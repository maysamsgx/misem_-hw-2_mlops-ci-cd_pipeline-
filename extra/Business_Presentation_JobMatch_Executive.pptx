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JobMatch: Turning Hiring from a Cost Center</a:t>
            </a:r>
          </a:p>
          <a:p>
            <a:r>
              <a:t>into a Strategic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Level 2 MLOps Ecosystem for Enterprise Scale</a:t>
            </a:r>
          </a:p>
          <a:p>
            <a:r>
              <a:t>Presented to Senior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The Business Problem: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"Stop hiring like it’s 1990. Start scaling like it’s 2030."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The Hard Truth:</a:t>
            </a:r>
          </a:p>
          <a:p>
            <a:pPr>
              <a:spcAft>
                <a:spcPts val="1000"/>
              </a:spcAft>
              <a:defRPr sz="2000"/>
            </a:pPr>
            <a:r>
              <a:t>- Hiring is no longer an HR problem — it is a BUSINESS RISK.</a:t>
            </a:r>
          </a:p>
          <a:p>
            <a:pPr>
              <a:spcAft>
                <a:spcPts val="1000"/>
              </a:spcAft>
              <a:defRPr sz="2000"/>
            </a:pPr>
            <a:r>
              <a:t>- High volumes + Manual processes = Inconsistent decisions &amp; Lost Revenue.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The Core Question:</a:t>
            </a:r>
          </a:p>
          <a:p>
            <a:pPr>
              <a:spcAft>
                <a:spcPts val="1000"/>
              </a:spcAft>
              <a:defRPr sz="2000"/>
            </a:pPr>
            <a:r>
              <a:t>"How do we scale hiring decisions with the same rigor, automation, and governance we apply to finance?"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The Strategic Solution: System &gt;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JobMatch is not just a model. It is a Production-Grade MLOps Ecosystem.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Designed for High-Velocity Environments:</a:t>
            </a:r>
          </a:p>
          <a:p>
            <a:pPr>
              <a:spcAft>
                <a:spcPts val="1000"/>
              </a:spcAft>
              <a:defRPr sz="2000"/>
            </a:pPr>
            <a:r>
              <a:t>- Continuously governed decision system.</a:t>
            </a:r>
          </a:p>
          <a:p>
            <a:pPr>
              <a:spcAft>
                <a:spcPts val="1000"/>
              </a:spcAft>
              <a:defRPr sz="2000"/>
            </a:pPr>
            <a:r>
              <a:t>- Automated pipelines (Training, Deployment, Monitoring).</a:t>
            </a:r>
          </a:p>
          <a:p>
            <a:pPr>
              <a:spcAft>
                <a:spcPts val="1000"/>
              </a:spcAft>
              <a:defRPr sz="2000"/>
            </a:pPr>
            <a:r>
              <a:t>- Built-in safeguards against unreliable predictions.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Business Impact: Lower Risk, Predictable Performance, Faster Cycles.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Executive Value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1. Efficiency (Speed):</a:t>
            </a:r>
          </a:p>
          <a:p>
            <a:pPr>
              <a:spcAft>
                <a:spcPts val="1000"/>
              </a:spcAft>
              <a:defRPr sz="2000"/>
            </a:pPr>
            <a:r>
              <a:t>   - Thousands of profiles processed in milliseconds.</a:t>
            </a:r>
          </a:p>
          <a:p>
            <a:pPr>
              <a:spcAft>
                <a:spcPts val="1000"/>
              </a:spcAft>
              <a:defRPr sz="2000"/>
            </a:pPr>
            <a:r>
              <a:t>   - Faster staffing -&gt; Faster revenue realization.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2. Risk Management (Trust):</a:t>
            </a:r>
          </a:p>
          <a:p>
            <a:pPr>
              <a:spcAft>
                <a:spcPts val="1000"/>
              </a:spcAft>
              <a:defRPr sz="2000"/>
            </a:pPr>
            <a:r>
              <a:t>   - Zero-trust serving logic &amp; Algorithmic Fallback.</a:t>
            </a:r>
          </a:p>
          <a:p>
            <a:pPr>
              <a:spcAft>
                <a:spcPts val="1000"/>
              </a:spcAft>
              <a:defRPr sz="2000"/>
            </a:pPr>
            <a:r>
              <a:t>   - Defensible decision-making under audit.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3. Governance (No Black Boxes):</a:t>
            </a:r>
          </a:p>
          <a:p>
            <a:pPr>
              <a:spcAft>
                <a:spcPts val="1000"/>
              </a:spcAft>
              <a:defRPr sz="2000"/>
            </a:pPr>
            <a:r>
              <a:t>   - Full audit trails (MLflow) &amp; Data Validation (Great Expectations).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Designed for Scale, Not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Scalability is non-negotiable.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Technical Enablers:</a:t>
            </a:r>
          </a:p>
          <a:p>
            <a:pPr>
              <a:spcAft>
                <a:spcPts val="1000"/>
              </a:spcAft>
              <a:defRPr sz="2000"/>
            </a:pPr>
            <a:r>
              <a:t>- High-Cardinality Intelligence: Embeddings for complex skill data.</a:t>
            </a:r>
          </a:p>
          <a:p>
            <a:pPr>
              <a:spcAft>
                <a:spcPts val="1000"/>
              </a:spcAft>
              <a:defRPr sz="2000"/>
            </a:pPr>
            <a:r>
              <a:t>- Ensemble Architecture: XGBoost + LightGBM + RF for stability.</a:t>
            </a:r>
          </a:p>
          <a:p>
            <a:pPr>
              <a:spcAft>
                <a:spcPts val="1000"/>
              </a:spcAft>
              <a:defRPr sz="2000"/>
            </a:pPr>
            <a:r>
              <a:t>- Kubernetes-Ready: Horizontal scaling for peak loads.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Benefit: The system grows with your hiring needs without exponential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ROI Logic: Why This Investment Makes 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Comparison: Traditional Manual vs. JobMatch System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Screening Cost:  High (Manual)  -&gt;  Automated (Low)</a:t>
            </a:r>
          </a:p>
          <a:p>
            <a:pPr>
              <a:spcAft>
                <a:spcPts val="1000"/>
              </a:spcAft>
              <a:defRPr sz="2000"/>
            </a:pPr>
            <a:r>
              <a:t>Time-to-Hire:    Weeks          -&gt;  Minutes</a:t>
            </a:r>
          </a:p>
          <a:p>
            <a:pPr>
              <a:spcAft>
                <a:spcPts val="1000"/>
              </a:spcAft>
              <a:defRPr sz="2000"/>
            </a:pPr>
            <a:r>
              <a:t>Decision Risk:   Subjective     -&gt;  Quantified &amp; Monitored</a:t>
            </a:r>
          </a:p>
          <a:p>
            <a:pPr>
              <a:spcAft>
                <a:spcPts val="1000"/>
              </a:spcAft>
              <a:defRPr sz="2000"/>
            </a:pPr>
            <a:r>
              <a:t>Scalability:     Limited        -&gt;  Elastic</a:t>
            </a:r>
          </a:p>
          <a:p>
            <a:pPr>
              <a:spcAft>
                <a:spcPts val="1000"/>
              </a:spcAft>
              <a:defRPr sz="2000"/>
            </a:pPr>
            <a:r>
              <a:t>Governance:      Minimal        -&gt;  Built-in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Verdict: This is not just optimization. It is structural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Strategic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/>
            </a:pPr>
            <a:r>
              <a:t>Transformation:</a:t>
            </a:r>
          </a:p>
          <a:p>
            <a:pPr>
              <a:spcAft>
                <a:spcPts val="1000"/>
              </a:spcAft>
              <a:defRPr sz="2000"/>
            </a:pPr>
            <a:r>
              <a:t>From manual, risk-prone processes -&gt; To a scalable, governed, intelligent system.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Value for Leadership:</a:t>
            </a:r>
          </a:p>
          <a:p>
            <a:pPr>
              <a:spcAft>
                <a:spcPts val="1000"/>
              </a:spcAft>
              <a:defRPr sz="2000"/>
            </a:pPr>
            <a:r>
              <a:t>- Efficiency: Hire faster without headcount increase.</a:t>
            </a:r>
          </a:p>
          <a:p>
            <a:pPr>
              <a:spcAft>
                <a:spcPts val="1000"/>
              </a:spcAft>
              <a:defRPr sz="2000"/>
            </a:pPr>
            <a:r>
              <a:t>- Risk Reduction: Confidence-based decisions.</a:t>
            </a:r>
          </a:p>
          <a:p>
            <a:pPr>
              <a:spcAft>
                <a:spcPts val="1000"/>
              </a:spcAft>
              <a:defRPr sz="2000"/>
            </a:pPr>
            <a:r>
              <a:t>- Agility: Adapt to market shifts instantly.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Final Message:</a:t>
            </a:r>
          </a:p>
          <a:p>
            <a:pPr>
              <a:spcAft>
                <a:spcPts val="1000"/>
              </a:spcAft>
              <a:defRPr sz="2000"/>
            </a:pPr>
            <a:r>
              <a:t>"JobMatch does not replace judgment. It augments it with speed, consistency, and governance."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32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