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Operationalizing Intelligence:</a:t>
            </a:r>
          </a:p>
          <a:p>
            <a:r>
              <a:t>The Candidate Matching Engine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Achieving MLOps Level 2 Maturity</a:t>
            </a:r>
          </a:p>
          <a:p>
            <a:r>
              <a:t>Presented to Senior Management</a:t>
            </a:r>
          </a:p>
          <a:p>
            <a:r>
              <a:t>January 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Business Challenge: The Cost of Inefficiency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Current State: Manual screening is slow, error-prone, and unscalable.</a:t>
            </a:r>
          </a:p>
          <a:p>
            <a:pPr>
              <a:spcAft>
                <a:spcPts val="1000"/>
              </a:spcAft>
              <a:defRPr sz="2000"/>
            </a:pPr>
            <a:r>
              <a:t>Operational Risk: Human bias and inconsistent decision-making.</a:t>
            </a:r>
          </a:p>
          <a:p>
            <a:pPr>
              <a:spcAft>
                <a:spcPts val="1000"/>
              </a:spcAft>
              <a:defRPr sz="2000"/>
            </a:pPr>
            <a:r>
              <a:t>Technical Debt: Models stagnate without automated retraining pipelines.</a:t>
            </a:r>
          </a:p>
          <a:p>
            <a:pPr>
              <a:spcAft>
                <a:spcPts val="1000"/>
              </a:spcAft>
              <a:defRPr sz="2000"/>
            </a:pPr>
            <a:r>
              <a:t>Bottom Line: We risk losing competitive edge due to 'Deployment Latency'.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Autonomous, Risk-Aware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Vision: An end-to-end MLOps System that learns, deploys, and monitors itself.</a:t>
            </a:r>
          </a:p>
          <a:p>
            <a:pPr>
              <a:spcAft>
                <a:spcPts val="1000"/>
              </a:spcAft>
              <a:defRPr sz="2000"/>
            </a:pPr>
            <a:r>
              <a:t>1. Automated CI/CD: Zero-touch deployment from code to cloud.</a:t>
            </a:r>
          </a:p>
          <a:p>
            <a:pPr>
              <a:spcAft>
                <a:spcPts val="1000"/>
              </a:spcAft>
              <a:defRPr sz="2000"/>
            </a:pPr>
            <a:r>
              <a:t>2. Resilient Modeling: Advanced handling of high-cardinality skill data.</a:t>
            </a:r>
          </a:p>
          <a:p>
            <a:pPr>
              <a:spcAft>
                <a:spcPts val="1000"/>
              </a:spcAft>
              <a:defRPr sz="2000"/>
            </a:pPr>
            <a:r>
              <a:t>3. Governance &amp; Control: Continuous drift detection and auditing.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Excellence: Automation &amp;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Orchestration (Prefect): Automated DAGs (Data -&gt; Train -&gt; Serve).</a:t>
            </a:r>
          </a:p>
          <a:p>
            <a:pPr>
              <a:spcAft>
                <a:spcPts val="1000"/>
              </a:spcAft>
              <a:defRPr sz="2000"/>
            </a:pPr>
            <a:r>
              <a:t>CI/CD Pipeline (GitLab):</a:t>
            </a:r>
          </a:p>
          <a:p>
            <a:pPr>
              <a:spcAft>
                <a:spcPts val="1000"/>
              </a:spcAft>
              <a:defRPr sz="2000"/>
            </a:pPr>
            <a:r>
              <a:t>   - Commit: Auto-Linting &amp; Unit Tests.</a:t>
            </a:r>
          </a:p>
          <a:p>
            <a:pPr>
              <a:spcAft>
                <a:spcPts val="1000"/>
              </a:spcAft>
              <a:defRPr sz="2000"/>
            </a:pPr>
            <a:r>
              <a:t>   - Deploy: Dockerized containers for consistent environments.</a:t>
            </a:r>
          </a:p>
          <a:p>
            <a:pPr>
              <a:spcAft>
                <a:spcPts val="1000"/>
              </a:spcAft>
              <a:defRPr sz="2000"/>
            </a:pPr>
            <a:r>
              <a:t>Result: Deployment cycle time reduced from Days to Minutes.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Engineering for Coplexity: ML Design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High Cardinality: 'Embeddings' map 1000+ skills to dense vectors.</a:t>
            </a:r>
          </a:p>
          <a:p>
            <a:pPr>
              <a:spcAft>
                <a:spcPts val="1000"/>
              </a:spcAft>
              <a:defRPr sz="2000"/>
            </a:pPr>
            <a:r>
              <a:t>Feature Cross: capturing interactions (Seniority x Skills Count).</a:t>
            </a:r>
          </a:p>
          <a:p>
            <a:pPr>
              <a:spcAft>
                <a:spcPts val="1000"/>
              </a:spcAft>
              <a:defRPr sz="2000"/>
            </a:pPr>
            <a:r>
              <a:t>Ensemble Modeling: Stacked XGBoost + LightGBM + Random Forest.</a:t>
            </a:r>
          </a:p>
          <a:p>
            <a:pPr>
              <a:spcAft>
                <a:spcPts val="1000"/>
              </a:spcAft>
              <a:defRPr sz="2000"/>
            </a:pPr>
            <a:r>
              <a:t>Outcome: Robust predictions resistant to edge cases.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Mitigation: Trust, But Verify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Continuous Evaluation: Detecting Data Drift using statistical checks.</a:t>
            </a:r>
          </a:p>
          <a:p>
            <a:pPr>
              <a:spcAft>
                <a:spcPts val="1000"/>
              </a:spcAft>
              <a:defRPr sz="2000"/>
            </a:pPr>
            <a:r>
              <a:t>Safety Nets (Algorithmic Fallback):</a:t>
            </a:r>
          </a:p>
          <a:p>
            <a:pPr>
              <a:spcAft>
                <a:spcPts val="1000"/>
              </a:spcAft>
              <a:defRPr sz="2000"/>
            </a:pPr>
            <a:r>
              <a:t>   - If Confidence &lt; 40%, fallback to rule-based logic.</a:t>
            </a:r>
          </a:p>
          <a:p>
            <a:pPr>
              <a:spcAft>
                <a:spcPts val="1000"/>
              </a:spcAft>
              <a:defRPr sz="2000"/>
            </a:pPr>
            <a:r>
              <a:t>   - Prevents 'Hallucinations' on unfamiliar data.</a:t>
            </a:r>
          </a:p>
          <a:p>
            <a:pPr>
              <a:spcAft>
                <a:spcPts val="1000"/>
              </a:spcAft>
              <a:defRPr sz="2000"/>
            </a:pPr>
            <a:r>
              <a:t>Audit Trail: MLflow tracks every experiment and model version.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Conclusion: Driving 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Efficiency: 50%+ reduction in manual screening time.</a:t>
            </a:r>
          </a:p>
          <a:p>
            <a:pPr>
              <a:spcAft>
                <a:spcPts val="1000"/>
              </a:spcAft>
              <a:defRPr sz="2000"/>
            </a:pPr>
            <a:r>
              <a:t>Reliability: 99.9% Uptime via stateless, containerized architecture.</a:t>
            </a:r>
          </a:p>
          <a:p>
            <a:pPr>
              <a:spcAft>
                <a:spcPts val="1000"/>
              </a:spcAft>
              <a:defRPr sz="2000"/>
            </a:pPr>
            <a:r>
              <a:t>Agility: Instant retraining in response to market shifts.</a:t>
            </a:r>
          </a:p>
          <a:p>
            <a:pPr>
              <a:spcAft>
                <a:spcPts val="1000"/>
              </a:spcAft>
              <a:defRPr sz="2000"/>
            </a:pPr>
            <a:r>
              <a:t>Verdict: A Resilient, Level 2 MLOps System ready for Scale.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Thank You</a:t>
            </a:r>
          </a:p>
          <a:p>
            <a:r>
              <a:t>Team Members: [Data Engineer, ML Engineer, DevOps, Project Manager]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